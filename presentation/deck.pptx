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11430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社群媒體分析　·　期末報告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9164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從頻道表現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441448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到留言社群洞察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246120"/>
            <a:ext cx="1143000" cy="38100"/>
          </a:xfrm>
          <a:prstGeom prst="rect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447287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台灣 YouTube 頻道的 Audience Intelligence 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04487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以 The DoDo Men－嘟嘟人為例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郭宜蓁　林業語　趙翊宏　鄭兆恩　趙仲文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960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研究動機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高留言、高互動，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20824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不等於頻道健康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3008376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2871216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觀看、訂閱、留言數，只回答「有沒有被看見、是否成長」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3849624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3712464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同樣是留言增加：可能是核心粉絲，也可能是爭議、負面、外部炎上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4690872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455371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高互動可能是長期社群資產，也可能是潛在聲譽風險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08076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延伸 vanity metrics → critical analytics（Rogers, 2018）：從表面數字轉向互動品質。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960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研究缺口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現有工具回答『表現』，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20824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少回答『誰在互動、是資產還是風險』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3008376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2871216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Performance（YouTube Studio／Social Blade）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3227832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追蹤觀看與成長，但不分析留言者社群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849624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3712464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Optimization（vidIQ／TubeBuddy）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406908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優化曝光與點擊，少觸及發布後的社群反應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690872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55371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Social listening（Brandwatch 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4910328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以品牌／關鍵字為主，少細看單一頻道留言生態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608076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本研究補足 YouTube-native audience intelligence：留言社群、語意主體、互動衝突。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960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研究問題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四個研究問題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2404872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2728" y="226771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RQ1　留言社群整體是否健康？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2624327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來自穩定核心，還是較多一次性留言者？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3319272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318211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RQ2　是否存在不同觀眾社群？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3538727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偏好主題、情緒反應、負面主體是否不同？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4233671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4096511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RQ3　正負面留言針對哪些主體／面向？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453127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內容、創作者、合作對象，還是價值觀立場？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5148071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501091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RQ4　哪些影片不只負面多，而是引發衝突？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5367527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reply conflict／pile-on／parent opposition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960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資料與對象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The DoDo Men ─ 嘟嘟人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1460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351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6243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分析影片（排除 Shorts）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3756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247k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34472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主留言（結構口徑）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112k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2702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不重複留言者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8348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09320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benchmark 頻道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608076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情緒標註涵蓋約 200 萬則留言（個案＋cohort，含回覆）；ABSA 語意主體僅針對個案頻道。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960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分析框架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從資料到策略的分析流程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3017520"/>
            <a:ext cx="2331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3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5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資料</a:t>
            </a:r>
          </a:p>
          <a:p>
            <a:r>
              <a:rPr sz="10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YouTube 公開</a:t>
            </a:r>
          </a:p>
          <a:p>
            <a:r>
              <a:rPr sz="10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留言 + metadata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6698" y="3017520"/>
            <a:ext cx="2331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A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標註</a:t>
            </a:r>
          </a:p>
          <a:p>
            <a:r>
              <a:rPr sz="10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雙模型 + 人工審核</a:t>
            </a:r>
          </a:p>
          <a:p>
            <a:r>
              <a:rPr sz="10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主題·情緒·ABSA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3276" y="3017520"/>
            <a:ext cx="2331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3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5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分析</a:t>
            </a:r>
          </a:p>
          <a:p>
            <a:r>
              <a:rPr sz="10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頻道健康</a:t>
            </a:r>
          </a:p>
          <a:p>
            <a:r>
              <a:rPr sz="10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觀眾社群</a:t>
            </a:r>
          </a:p>
          <a:p>
            <a:r>
              <a:rPr sz="10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情緒/衝突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99855" y="3017520"/>
            <a:ext cx="2331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3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5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策略</a:t>
            </a:r>
          </a:p>
          <a:p>
            <a:r>
              <a:rPr sz="10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內容·分眾溝通</a:t>
            </a:r>
          </a:p>
          <a:p>
            <a:r>
              <a:rPr sz="10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炎上監測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19271" y="3630168"/>
            <a:ext cx="259994" cy="146304"/>
          </a:xfrm>
          <a:prstGeom prst="rightArrow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965850" y="3630168"/>
            <a:ext cx="259994" cy="146304"/>
          </a:xfrm>
          <a:prstGeom prst="rightArrow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612428" y="3630168"/>
            <a:ext cx="259994" cy="146304"/>
          </a:xfrm>
          <a:prstGeom prst="rightArrow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989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分析層含頻道健康、觀眾社群、情緒／衝突風險三個模組，最終整合為可執行策略。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960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RQ1　頻道健康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互動來自穩定核心，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20824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不是一次性流量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3008376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28712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回訪率明顯高於同儕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322783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跨影片 PR 81、近期 rolling PR 91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904487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37673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不依賴一次性流量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412394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一次性留言者占比 PR 15（越低越好）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800600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66344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整體情緒健康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502005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負面率 7.5%，低於 cohort 平均</a:t>
            </a:r>
          </a:p>
        </p:txBody>
      </p:sp>
      <p:pic>
        <p:nvPicPr>
          <p:cNvPr id="14" name="Picture 13" descr="ov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68880"/>
            <a:ext cx="5577840" cy="1523647"/>
          </a:xfrm>
          <a:prstGeom prst="rect">
            <a:avLst/>
          </a:prstGeom>
          <a:ln w="12700">
            <a:solidFill>
              <a:srgbClr val="DED6CD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960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RQ2　觀眾社群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頻道不是一群粉絲，而是三個觀眾社群</a:t>
            </a:r>
          </a:p>
        </p:txBody>
      </p:sp>
      <p:pic>
        <p:nvPicPr>
          <p:cNvPr id="4" name="Picture 3" descr="aud_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241" y="2286000"/>
            <a:ext cx="6492469" cy="3520440"/>
          </a:xfrm>
          <a:prstGeom prst="rect">
            <a:avLst/>
          </a:prstGeom>
          <a:ln w="12700">
            <a:solidFill>
              <a:srgbClr val="DED6C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60120" y="608076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co-commenter network + Louvain 社群偵測；modularity 0.31 → 軟性偏好傾向，非鐵票派系。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960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RQ3　情緒主體（ABSA）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被讚的是人與內容，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20824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被罵的是價值觀與真實性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3008376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287121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被稱讚的點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322783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主持人 35%、內容品質 28%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904487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37673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被批評的點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412394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價值觀／政治 28%、真實性／造假 28%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800600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66344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策略意義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502005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負面屬聲譽層級風險，非單純內容問題</a:t>
            </a:r>
          </a:p>
        </p:txBody>
      </p:sp>
      <p:pic>
        <p:nvPicPr>
          <p:cNvPr id="14" name="Picture 13" descr="sent_aspect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468880"/>
            <a:ext cx="5440680" cy="3014899"/>
          </a:xfrm>
          <a:prstGeom prst="rect">
            <a:avLst/>
          </a:prstGeom>
          <a:ln w="12700">
            <a:solidFill>
              <a:srgbClr val="DED6CD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1188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RQ3　內容敏感度（控制題材）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19456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8 pp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160520"/>
            <a:ext cx="1143000" cy="38100"/>
          </a:xfrm>
          <a:prstGeom prst="rect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43891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同樣看「職場科技」，挑戰冒險型負面率 14% vs 知識職涯型 5%（p &lt; 0.001）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035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對照：荒野求生三群負面率一致（約 10%）— 差異來自社群本身，而非主題。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960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RQ4　留言衝突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負面 ≠ 衝突：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20824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少數影片真的「吵起來」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3008376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2871216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衝突看回覆串結構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322783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圍剿、對立母串，而非單純負面率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904487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376732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多為「對立母串」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412394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回覆與母留言唱反調；一面倒圍剿較少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800600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6634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需優先關注的影片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502005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如「建中教課」圍剿 8、對立母串 16</a:t>
            </a:r>
          </a:p>
        </p:txBody>
      </p:sp>
      <p:pic>
        <p:nvPicPr>
          <p:cNvPr id="14" name="Picture 13" descr="sent_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276" y="2148840"/>
            <a:ext cx="2706007" cy="4343400"/>
          </a:xfrm>
          <a:prstGeom prst="rect">
            <a:avLst/>
          </a:prstGeom>
          <a:ln w="12700">
            <a:solidFill>
              <a:srgbClr val="DED6CD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960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把分析轉成可執行策略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514600"/>
            <a:ext cx="640080" cy="38100"/>
          </a:xfrm>
          <a:prstGeom prst="rect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697480"/>
            <a:ext cx="30580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內容策略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3456432"/>
            <a:ext cx="91440" cy="91440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3355848"/>
            <a:ext cx="2783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核心題材維持黏著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4169664"/>
            <a:ext cx="91440" cy="91440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4069080"/>
            <a:ext cx="2783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爭議題材搭配風險監控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4882896"/>
            <a:ext cx="91440" cy="91440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4782312"/>
            <a:ext cx="2783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高互動企劃系統化複製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66818" y="2514600"/>
            <a:ext cx="640080" cy="38100"/>
          </a:xfrm>
          <a:prstGeom prst="rect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2697480"/>
            <a:ext cx="30580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分眾溝通</a:t>
            </a:r>
          </a:p>
        </p:txBody>
      </p:sp>
      <p:sp>
        <p:nvSpPr>
          <p:cNvPr id="14" name="Oval 13"/>
          <p:cNvSpPr/>
          <p:nvPr/>
        </p:nvSpPr>
        <p:spPr>
          <a:xfrm>
            <a:off x="4566818" y="3456432"/>
            <a:ext cx="91440" cy="91440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2850" y="3355848"/>
            <a:ext cx="2783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知識型：清楚證據與脈絡</a:t>
            </a:r>
          </a:p>
        </p:txBody>
      </p:sp>
      <p:sp>
        <p:nvSpPr>
          <p:cNvPr id="16" name="Oval 15"/>
          <p:cNvSpPr/>
          <p:nvPr/>
        </p:nvSpPr>
        <p:spPr>
          <a:xfrm>
            <a:off x="4566818" y="4169664"/>
            <a:ext cx="91440" cy="91440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2850" y="4069080"/>
            <a:ext cx="2783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冒險型：透明、即時、一致回應</a:t>
            </a:r>
          </a:p>
        </p:txBody>
      </p:sp>
      <p:sp>
        <p:nvSpPr>
          <p:cNvPr id="18" name="Oval 17"/>
          <p:cNvSpPr/>
          <p:nvPr/>
        </p:nvSpPr>
        <p:spPr>
          <a:xfrm>
            <a:off x="4566818" y="4882896"/>
            <a:ext cx="91440" cy="91440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2850" y="4782312"/>
            <a:ext cx="2783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敏感題材預備溝通素材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3516" y="2514600"/>
            <a:ext cx="640080" cy="38100"/>
          </a:xfrm>
          <a:prstGeom prst="rect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3516" y="2697480"/>
            <a:ext cx="30580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風險監測</a:t>
            </a:r>
          </a:p>
        </p:txBody>
      </p:sp>
      <p:sp>
        <p:nvSpPr>
          <p:cNvPr id="22" name="Oval 21"/>
          <p:cNvSpPr/>
          <p:nvPr/>
        </p:nvSpPr>
        <p:spPr>
          <a:xfrm>
            <a:off x="8173516" y="3456432"/>
            <a:ext cx="91440" cy="91440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9548" y="3355848"/>
            <a:ext cx="2783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按讚加權負面率</a:t>
            </a:r>
          </a:p>
        </p:txBody>
      </p:sp>
      <p:sp>
        <p:nvSpPr>
          <p:cNvPr id="24" name="Oval 23"/>
          <p:cNvSpPr/>
          <p:nvPr/>
        </p:nvSpPr>
        <p:spPr>
          <a:xfrm>
            <a:off x="8173516" y="4169664"/>
            <a:ext cx="91440" cy="91440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9548" y="4069080"/>
            <a:ext cx="2783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衝突／圍剿／對立母串</a:t>
            </a:r>
          </a:p>
        </p:txBody>
      </p:sp>
      <p:sp>
        <p:nvSpPr>
          <p:cNvPr id="26" name="Oval 25"/>
          <p:cNvSpPr/>
          <p:nvPr/>
        </p:nvSpPr>
        <p:spPr>
          <a:xfrm>
            <a:off x="8173516" y="4882896"/>
            <a:ext cx="91440" cy="91440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9548" y="4782312"/>
            <a:ext cx="27837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各社群情緒變化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960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研究限制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研究限制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2404872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2728" y="226771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分析對象為 active commenting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2624327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只含留言者，非全體觀眾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3154679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301752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共同留言 ≠ 真實社交關係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3374135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僅代表共同參與相同內容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904487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767328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benchmark 為廣義 cohort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123944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非同題材 matched，百分位僅供相對參考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654296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4517136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ABSA 僅針對個案頻道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873752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未與 cohort 對照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5404104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5266944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情緒／語意為模型標註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562356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非人工真值，需保守解讀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960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AF7F"/>
                </a:solidFill>
                <a:latin typeface="Noto Sans TC"/>
                <a:ea typeface="Noto Sans TC"/>
                <a:cs typeface="Noto Sans TC"/>
              </a:rP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從互動數量，到互動品質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2404872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2728" y="226771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RQ1　健康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2624327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互動來自穩定核心與回訪觀眾，而非一次性流量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3227832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309067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RQ2　社群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3447287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三個觀眾社群，內容偏好與情緒特徵各不相同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4050791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91363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RQ3　主體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2702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正面指向人與內容；負面指向價值觀與真實性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873752"/>
            <a:ext cx="118872" cy="118872"/>
          </a:xfrm>
          <a:prstGeom prst="ellipse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473659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RQ4　衝突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509320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負面 ≠ 衝突，少數影片引發實質對立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11430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9164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謝謝聆聽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496312"/>
            <a:ext cx="1143000" cy="38100"/>
          </a:xfrm>
          <a:prstGeom prst="rect">
            <a:avLst/>
          </a:prstGeom>
          <a:solidFill>
            <a:srgbClr val="0FA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073763"/>
                </a:solidFill>
                <a:latin typeface="Noto Sans TC"/>
                <a:ea typeface="Noto Sans TC"/>
                <a:cs typeface="Noto Sans TC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154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8CA2"/>
                </a:solidFill>
                <a:latin typeface="Noto Sans TC"/>
                <a:ea typeface="Noto Sans TC"/>
                <a:cs typeface="Noto Sans TC"/>
              </a:rPr>
              <a:t>郭宜蓁　林業語　趙翊宏　鄭兆恩　趙仲文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